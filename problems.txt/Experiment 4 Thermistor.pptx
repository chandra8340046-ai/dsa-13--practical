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80" r:id="rId3"/>
    <p:sldId id="281" r:id="rId4"/>
    <p:sldId id="282" r:id="rId5"/>
    <p:sldId id="267" r:id="rId6"/>
    <p:sldId id="278" r:id="rId7"/>
    <p:sldId id="258" r:id="rId8"/>
    <p:sldId id="276" r:id="rId9"/>
    <p:sldId id="285" r:id="rId10"/>
    <p:sldId id="286" r:id="rId11"/>
    <p:sldId id="275" r:id="rId12"/>
    <p:sldId id="283" r:id="rId13"/>
    <p:sldId id="288" r:id="rId14"/>
    <p:sldId id="284" r:id="rId15"/>
    <p:sldId id="289" r:id="rId16"/>
    <p:sldId id="259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366" y="-4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145F1-6B75-412C-9F12-E8B343AC5E46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D6709-C721-4C7A-AFDC-4282A0205D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404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5d10e128c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275d10e128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215496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125805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39490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21720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10984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576428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868480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53018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44761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7655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5d10e128c_0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275d10e128c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953258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732855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44658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5d10e128c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75d10e128c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8570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299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02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140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319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366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683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9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909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8650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4443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76844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1"/>
            <a:ext cx="12192000" cy="4864500"/>
          </a:xfrm>
          <a:prstGeom prst="rect">
            <a:avLst/>
          </a:prstGeom>
          <a:solidFill>
            <a:srgbClr val="00336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835200" y="1252800"/>
            <a:ext cx="10848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835200" y="3021178"/>
            <a:ext cx="10848000" cy="1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9181630" y="5012479"/>
            <a:ext cx="1407133" cy="972503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xmlns="" val="488800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 rot="10800000">
            <a:off x="836000" y="535043"/>
            <a:ext cx="10848000" cy="0"/>
          </a:xfrm>
          <a:prstGeom prst="straightConnector1">
            <a:avLst/>
          </a:prstGeom>
          <a:noFill/>
          <a:ln w="9525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836084" y="664610"/>
            <a:ext cx="10848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Font typeface="Arial"/>
              <a:buNone/>
              <a:defRPr sz="2800" b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6084" y="1238743"/>
            <a:ext cx="10848000" cy="5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836084" y="6510444"/>
            <a:ext cx="80060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10972800" y="6506212"/>
            <a:ext cx="7112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4"/>
          <p:cNvSpPr/>
          <p:nvPr/>
        </p:nvSpPr>
        <p:spPr>
          <a:xfrm>
            <a:off x="10972800" y="24466"/>
            <a:ext cx="533400" cy="368646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2" name="Google Shape;62;p14"/>
          <p:cNvCxnSpPr/>
          <p:nvPr/>
        </p:nvCxnSpPr>
        <p:spPr>
          <a:xfrm rot="10800000">
            <a:off x="829649" y="6501449"/>
            <a:ext cx="10848000" cy="0"/>
          </a:xfrm>
          <a:prstGeom prst="straightConnector1">
            <a:avLst/>
          </a:prstGeom>
          <a:noFill/>
          <a:ln w="9525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xmlns="" val="21495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66D6F-6AFB-4767-8488-129D40AC2A2B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B847B-80AB-431E-82AC-F39211497F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943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1112784" y="1185639"/>
            <a:ext cx="9966431" cy="255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4000" dirty="0"/>
              <a:t>Experiment 4 : </a:t>
            </a:r>
            <a:br>
              <a:rPr lang="en-US" sz="4000" dirty="0"/>
            </a:br>
            <a:r>
              <a:rPr lang="en-US" sz="4400" dirty="0"/>
              <a:t>Thermistor Interface with Arduino </a:t>
            </a:r>
            <a:endParaRPr sz="4000" b="0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AF0E96-CA5F-1106-D0E2-DF92B92C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665" y="5011626"/>
            <a:ext cx="4396844" cy="154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6345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4593798" y="0"/>
            <a:ext cx="3198057" cy="6362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Thermistor</a:t>
            </a:r>
            <a:endParaRPr sz="36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57DADF-0D67-1336-103E-E11DDC2CC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89906" y="3980862"/>
            <a:ext cx="5311476" cy="2163313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xmlns="" id="{42973C9C-8E38-204F-04B0-8409CFA575B4}"/>
              </a:ext>
            </a:extLst>
          </p:cNvPr>
          <p:cNvSpPr txBox="1"/>
          <p:nvPr/>
        </p:nvSpPr>
        <p:spPr>
          <a:xfrm>
            <a:off x="124046" y="979794"/>
            <a:ext cx="11033579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word “</a:t>
            </a:r>
            <a:r>
              <a:rPr lang="en-US" sz="2400" b="1" dirty="0">
                <a:latin typeface="+mj-lt"/>
              </a:rPr>
              <a:t>Thermistor</a:t>
            </a:r>
            <a:r>
              <a:rPr lang="en-US" sz="2400" dirty="0">
                <a:latin typeface="+mj-lt"/>
              </a:rPr>
              <a:t>” is a combination of the words “</a:t>
            </a:r>
            <a:r>
              <a:rPr lang="en-US" sz="2400" b="1" dirty="0">
                <a:latin typeface="+mj-lt"/>
              </a:rPr>
              <a:t>Thermal</a:t>
            </a:r>
            <a:r>
              <a:rPr lang="en-US" sz="2400" dirty="0">
                <a:latin typeface="+mj-lt"/>
              </a:rPr>
              <a:t>” and “</a:t>
            </a:r>
            <a:r>
              <a:rPr lang="en-US" sz="2400" b="1" dirty="0">
                <a:latin typeface="+mj-lt"/>
              </a:rPr>
              <a:t>resistor</a:t>
            </a:r>
            <a:r>
              <a:rPr lang="en-US" sz="2400" dirty="0">
                <a:latin typeface="+mj-lt"/>
              </a:rPr>
              <a:t>“. A thermistor is a type of resistor whose resistance changes with the change in temperature.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It is a passive component that does not require an extra power source to operate.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+mj-lt"/>
              </a:rPr>
              <a:t>They are inexpensive and easy accessible.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1CAC6E14-1927-38E2-318C-93D78F188681}"/>
              </a:ext>
            </a:extLst>
          </p:cNvPr>
          <p:cNvSpPr>
            <a:spLocks noGrp="1"/>
          </p:cNvSpPr>
          <p:nvPr/>
        </p:nvSpPr>
        <p:spPr>
          <a:xfrm>
            <a:off x="270409" y="4256314"/>
            <a:ext cx="6801600" cy="21633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en-US" sz="2200" b="0" i="0" dirty="0">
                <a:effectLst/>
              </a:rPr>
              <a:t>There are two types of thermistors: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PTC (Positive Temperature Coefficient) Thermistor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0" i="0" dirty="0">
                <a:effectLst/>
              </a:rPr>
              <a:t>NTC (Negative Temperature Coefficient) Thermistor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xmlns="" val="198383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962063" y="0"/>
            <a:ext cx="9046086" cy="6362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r>
              <a:rPr lang="en-US" sz="2400" b="0" i="0" dirty="0">
                <a:effectLst/>
              </a:rPr>
              <a:t>POSITIVE TEMPERATURE COEFFICIENT (PTC)</a:t>
            </a:r>
            <a:r>
              <a:rPr lang="en-US" sz="2400" dirty="0"/>
              <a:t>THERMISTOR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xmlns="" id="{42973C9C-8E38-204F-04B0-8409CFA575B4}"/>
              </a:ext>
            </a:extLst>
          </p:cNvPr>
          <p:cNvSpPr txBox="1"/>
          <p:nvPr/>
        </p:nvSpPr>
        <p:spPr>
          <a:xfrm>
            <a:off x="124046" y="979794"/>
            <a:ext cx="11490779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PTC or Positive Temperature Coefficient thermistor resistance is directly proportional to the surrounding temperature. </a:t>
            </a:r>
          </a:p>
        </p:txBody>
      </p:sp>
      <p:pic>
        <p:nvPicPr>
          <p:cNvPr id="3" name="Content Placeholder 4" descr="Chacteristics of PTC NTC thermistors">
            <a:extLst>
              <a:ext uri="{FF2B5EF4-FFF2-40B4-BE49-F238E27FC236}">
                <a16:creationId xmlns:a16="http://schemas.microsoft.com/office/drawing/2014/main" xmlns="" id="{0579A42D-C9C9-7A27-F650-11B5C66A43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5397" b="12521"/>
          <a:stretch/>
        </p:blipFill>
        <p:spPr bwMode="auto">
          <a:xfrm>
            <a:off x="6485106" y="1682903"/>
            <a:ext cx="5079936" cy="42556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xmlns="" id="{F33557B9-727C-F97B-96FE-6A573EF19725}"/>
              </a:ext>
            </a:extLst>
          </p:cNvPr>
          <p:cNvSpPr txBox="1"/>
          <p:nvPr/>
        </p:nvSpPr>
        <p:spPr>
          <a:xfrm>
            <a:off x="124046" y="3169560"/>
            <a:ext cx="5971954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Its resistance increases with an increase in the temperature and decreases with a decrease in the temperature.</a:t>
            </a:r>
          </a:p>
        </p:txBody>
      </p:sp>
    </p:spTree>
    <p:extLst>
      <p:ext uri="{BB962C8B-B14F-4D97-AF65-F5344CB8AC3E}">
        <p14:creationId xmlns:p14="http://schemas.microsoft.com/office/powerpoint/2010/main" xmlns="" val="218015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962063" y="0"/>
            <a:ext cx="9108014" cy="6362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r>
              <a:rPr lang="en-US" sz="2400" b="0" dirty="0"/>
              <a:t>NEGA</a:t>
            </a:r>
            <a:r>
              <a:rPr lang="en-US" sz="2400" b="0" i="0" dirty="0">
                <a:effectLst/>
              </a:rPr>
              <a:t>TIVE TEMPERATURE COEFFICIENT (NTC)</a:t>
            </a:r>
            <a:r>
              <a:rPr lang="en-US" sz="2400" dirty="0"/>
              <a:t>THERMISTOR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xmlns="" id="{42973C9C-8E38-204F-04B0-8409CFA575B4}"/>
              </a:ext>
            </a:extLst>
          </p:cNvPr>
          <p:cNvSpPr txBox="1"/>
          <p:nvPr/>
        </p:nvSpPr>
        <p:spPr>
          <a:xfrm>
            <a:off x="124047" y="979794"/>
            <a:ext cx="6344848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NTC or Negative temperature coefficient thermistor has a negative coefficient k. therefore, its resistance varies inversely with the temperature. 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xmlns="" id="{F33557B9-727C-F97B-96FE-6A573EF19725}"/>
              </a:ext>
            </a:extLst>
          </p:cNvPr>
          <p:cNvSpPr txBox="1"/>
          <p:nvPr/>
        </p:nvSpPr>
        <p:spPr>
          <a:xfrm>
            <a:off x="124046" y="4434738"/>
            <a:ext cx="5971954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resistance decreases with an increase in temperature and vice versa</a:t>
            </a:r>
          </a:p>
        </p:txBody>
      </p:sp>
      <p:pic>
        <p:nvPicPr>
          <p:cNvPr id="5" name="Content Placeholder 4" descr="Chacteristics of PTC NTC thermistors">
            <a:extLst>
              <a:ext uri="{FF2B5EF4-FFF2-40B4-BE49-F238E27FC236}">
                <a16:creationId xmlns:a16="http://schemas.microsoft.com/office/drawing/2014/main" xmlns="" id="{5D355523-8930-1D16-6A16-81F160E44D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1062" t="6184" r="57287" b="15416"/>
          <a:stretch/>
        </p:blipFill>
        <p:spPr bwMode="auto">
          <a:xfrm>
            <a:off x="6858591" y="1508134"/>
            <a:ext cx="5086973" cy="4126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11947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4593798" y="0"/>
            <a:ext cx="3198057" cy="6362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Thermistor</a:t>
            </a:r>
            <a:endParaRPr sz="36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C6D8F23-F578-A15C-6891-EF4B3F7A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3274" y="636206"/>
            <a:ext cx="11325451" cy="505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94823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612843" y="768485"/>
            <a:ext cx="9824935" cy="560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68300" algn="just">
              <a:lnSpc>
                <a:spcPct val="115000"/>
              </a:lnSpc>
              <a:buSzPts val="2200"/>
              <a:buChar char="●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experiment 1, 2 &amp; 3, we have learned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declare variables using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int, define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digitalRead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do serial communication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analogWrite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analogRead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</a:p>
          <a:p>
            <a:pPr marL="457200" indent="-368300" algn="just">
              <a:lnSpc>
                <a:spcPct val="115000"/>
              </a:lnSpc>
              <a:buSzPts val="2200"/>
              <a:buChar char="●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68300" algn="just">
              <a:lnSpc>
                <a:spcPct val="115000"/>
              </a:lnSpc>
              <a:buSzPts val="2200"/>
              <a:buChar char="●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experiment 4, we are going to learn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use mathematical formulae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use If, elseif, for loop statements.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declare variables using float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6100" lvl="1" algn="just">
              <a:lnSpc>
                <a:spcPct val="115000"/>
              </a:lnSpc>
              <a:buSzPts val="2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945CB10-7BB0-A5A1-10E8-750101EA8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7" y="0"/>
            <a:ext cx="1445727" cy="5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889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151063" y="664610"/>
            <a:ext cx="8136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" sz="3000" dirty="0"/>
              <a:t>Aim</a:t>
            </a:r>
            <a:endParaRPr sz="30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2028299" y="1131962"/>
            <a:ext cx="8409479" cy="52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68300" algn="just">
              <a:lnSpc>
                <a:spcPct val="115000"/>
              </a:lnSpc>
              <a:buSzPts val="2200"/>
              <a:buChar char="●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main objective of this experiment is</a:t>
            </a:r>
          </a:p>
          <a:p>
            <a:pPr marL="88900" algn="just">
              <a:lnSpc>
                <a:spcPct val="115000"/>
              </a:lnSpc>
              <a:buSzPts val="22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interface thermistor with Arduino UNO, to read thermistor data and print on the Serial Monitor.</a:t>
            </a: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turn on LED if temperature is more than 30 </a:t>
            </a:r>
            <a:r>
              <a:rPr lang="en-IN" sz="2400" kern="0" baseline="30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IN" sz="24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C.</a:t>
            </a:r>
            <a:endParaRPr lang="en-IN" sz="24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IN" sz="2400" kern="0" dirty="0">
              <a:solidFill>
                <a:srgbClr val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turn off both LED1, LED2 if temperature is less than 85 </a:t>
            </a:r>
            <a:r>
              <a:rPr lang="en-IN" sz="2400" kern="0" baseline="30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IN" sz="24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</a:t>
            </a:r>
            <a:r>
              <a:rPr lang="en-IN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to turn 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LED1 if temperature is between 85 </a:t>
            </a:r>
            <a:r>
              <a:rPr lang="en-IN" sz="2400" kern="0" baseline="30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IN" sz="24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</a:t>
            </a:r>
            <a:r>
              <a:rPr lang="en-IN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95 </a:t>
            </a:r>
            <a:r>
              <a:rPr lang="en-IN" sz="2400" kern="0" baseline="30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IN" sz="24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</a:t>
            </a:r>
            <a:r>
              <a:rPr lang="en-IN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and </a:t>
            </a:r>
            <a:r>
              <a:rPr lang="en-US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turn on both LED1, LED2 if temperature is more than 95 </a:t>
            </a:r>
            <a:r>
              <a:rPr lang="en-IN" sz="2400" kern="0" baseline="30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IN" sz="2400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</a:t>
            </a:r>
            <a:r>
              <a:rPr lang="en-IN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03300" lvl="1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6100" lvl="1" algn="just">
              <a:lnSpc>
                <a:spcPct val="115000"/>
              </a:lnSpc>
              <a:buSzPts val="2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945CB10-7BB0-A5A1-10E8-750101EA8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7" y="0"/>
            <a:ext cx="1445727" cy="5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4379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695200" y="76705"/>
            <a:ext cx="7287990" cy="508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" sz="3200" dirty="0"/>
              <a:t>Circuit Connections: Objective 4(a)</a:t>
            </a:r>
            <a:endParaRPr sz="32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6312599-F432-CBC0-DCE3-EB4318D99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624" y="1316386"/>
            <a:ext cx="4863830" cy="4412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80141B9-F0CE-6304-6976-F5DA969F0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90401" y="1178390"/>
            <a:ext cx="6690975" cy="496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0882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695200" y="76705"/>
            <a:ext cx="7287990" cy="508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r>
              <a:rPr lang="en" sz="3200" dirty="0"/>
              <a:t>Value Convertions</a:t>
            </a:r>
            <a:endParaRPr sz="32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5B9C8C8-D764-1035-BBC9-051842AD5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26128" y="4270465"/>
            <a:ext cx="5341344" cy="14345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C88C96BC-9B55-EDCB-F193-B73D7DF85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07854" y="822935"/>
            <a:ext cx="7976292" cy="24262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4827161-8A91-DA17-9705-2A4AD267B8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886" y="4270465"/>
            <a:ext cx="5327334" cy="143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5288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8D461-27A1-6EFE-7043-DD322F990E26}"/>
                  </a:ext>
                </a:extLst>
              </p:cNvPr>
              <p:cNvSpPr txBox="1"/>
              <p:nvPr/>
            </p:nvSpPr>
            <p:spPr>
              <a:xfrm>
                <a:off x="4734793" y="726297"/>
                <a:ext cx="6094378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den>
                      </m:f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2 </m:t>
                      </m:r>
                      <m:func>
                        <m:func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𝐑𝟐</m:t>
                          </m:r>
                        </m:e>
                      </m:func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3 </m:t>
                      </m:r>
                      <m:sSup>
                        <m:sSup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2800" b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𝐑𝟐</m:t>
                              </m:r>
                              <m:r>
                                <a:rPr lang="en-IN" sz="2800" b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  <m:sup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F78D461-27A1-6EFE-7043-DD322F990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793" y="726297"/>
                <a:ext cx="6094378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BFAF90-859C-D9CF-D956-62922CA28D87}"/>
                  </a:ext>
                </a:extLst>
              </p:cNvPr>
              <p:cNvSpPr txBox="1"/>
              <p:nvPr/>
            </p:nvSpPr>
            <p:spPr>
              <a:xfrm>
                <a:off x="185749" y="1561632"/>
                <a:ext cx="11545430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where</a:t>
                </a:r>
              </a:p>
              <a:p>
                <a:r>
                  <a:rPr lang="en-US" sz="2000" dirty="0"/>
                  <a:t>T is the temperature (in kelvins),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R2 is the resistance at T (in </a:t>
                </a:r>
                <a14:m>
                  <m:oMath xmlns:m="http://schemas.openxmlformats.org/officeDocument/2006/math">
                    <m:r>
                      <a:rPr lang="en-IN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US" sz="2000" dirty="0"/>
                  <a:t>),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C1, C2, C3 are </a:t>
                </a:r>
                <a:r>
                  <a:rPr lang="en-US" sz="2000" b="1" dirty="0"/>
                  <a:t>Steinhart–Hart </a:t>
                </a:r>
                <a:r>
                  <a:rPr lang="en-US" sz="2000" dirty="0"/>
                  <a:t>coefficients, which vary depending on the type and model of thermistor and the temperature range of interest.</a:t>
                </a:r>
              </a:p>
              <a:p>
                <a:endParaRPr lang="en-IN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CBFAF90-859C-D9CF-D956-62922CA28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9" y="1561632"/>
                <a:ext cx="11545430" cy="2554545"/>
              </a:xfrm>
              <a:prstGeom prst="rect">
                <a:avLst/>
              </a:prstGeom>
              <a:blipFill>
                <a:blip r:embed="rId5"/>
                <a:stretch>
                  <a:fillRect l="-528" t="-1193" r="-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03BD5CCF-A2C6-BB52-7EF7-26D277D5A8EC}"/>
              </a:ext>
            </a:extLst>
          </p:cNvPr>
          <p:cNvSpPr txBox="1"/>
          <p:nvPr/>
        </p:nvSpPr>
        <p:spPr>
          <a:xfrm>
            <a:off x="175589" y="918100"/>
            <a:ext cx="49082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Steinhart–Hart Equation</a:t>
            </a:r>
            <a:endParaRPr lang="en-IN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70E129B-857D-1FB9-C0F7-D101F6E11C11}"/>
              </a:ext>
            </a:extLst>
          </p:cNvPr>
          <p:cNvSpPr txBox="1"/>
          <p:nvPr/>
        </p:nvSpPr>
        <p:spPr>
          <a:xfrm>
            <a:off x="175589" y="4460777"/>
            <a:ext cx="51186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Kelvin to Celsius Temperature </a:t>
            </a:r>
            <a:r>
              <a:rPr lang="en-US" sz="2200" b="1" dirty="0" err="1"/>
              <a:t>Convertion</a:t>
            </a:r>
            <a:endParaRPr lang="en-IN" sz="2200" dirty="0"/>
          </a:p>
        </p:txBody>
      </p:sp>
      <p:sp>
        <p:nvSpPr>
          <p:cNvPr id="5" name="Google Shape;74;p16">
            <a:extLst>
              <a:ext uri="{FF2B5EF4-FFF2-40B4-BE49-F238E27FC236}">
                <a16:creationId xmlns:a16="http://schemas.microsoft.com/office/drawing/2014/main" xmlns="" id="{F11BFC56-54B2-2F7A-34AB-CB9DE368E937}"/>
              </a:ext>
            </a:extLst>
          </p:cNvPr>
          <p:cNvSpPr txBox="1">
            <a:spLocks/>
          </p:cNvSpPr>
          <p:nvPr/>
        </p:nvSpPr>
        <p:spPr>
          <a:xfrm>
            <a:off x="2695200" y="76705"/>
            <a:ext cx="7287990" cy="508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Font typeface="Arial"/>
              <a:buNone/>
              <a:defRPr sz="2800" b="1" kern="120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algn="ctr"/>
            <a:r>
              <a:rPr lang="en-IN" sz="3200"/>
              <a:t>Value Convertions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325FA54-CF0D-B6C6-58DC-EFCE4043D1AA}"/>
              </a:ext>
            </a:extLst>
          </p:cNvPr>
          <p:cNvSpPr txBox="1"/>
          <p:nvPr/>
        </p:nvSpPr>
        <p:spPr>
          <a:xfrm>
            <a:off x="2663" y="5651473"/>
            <a:ext cx="55955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Celsius to Fahrenheit Temperature </a:t>
            </a:r>
            <a:r>
              <a:rPr lang="en-US" sz="2200" b="1" dirty="0" err="1"/>
              <a:t>Convertion</a:t>
            </a:r>
            <a:endParaRPr lang="en-IN" sz="22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B6FFF1-1422-DF8A-47BE-B7B4B62BF11E}"/>
                  </a:ext>
                </a:extLst>
              </p:cNvPr>
              <p:cNvSpPr txBox="1"/>
              <p:nvPr/>
            </p:nvSpPr>
            <p:spPr>
              <a:xfrm>
                <a:off x="5281308" y="4392451"/>
                <a:ext cx="60943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baseline="300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𝐨</m:t>
                          </m:r>
                          <m:r>
                            <a:rPr lang="en-IN" sz="2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𝑪</m:t>
                          </m:r>
                        </m:e>
                      </m:d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baseline="300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𝐨</m:t>
                          </m:r>
                          <m:r>
                            <a:rPr lang="en-IN" sz="2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𝑲</m:t>
                          </m:r>
                        </m:e>
                      </m:d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273.15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IN" sz="40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1B6FFF1-1422-DF8A-47BE-B7B4B62BF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308" y="4392451"/>
                <a:ext cx="609437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02FEB9-6949-5730-6F50-BEE9772905C3}"/>
                  </a:ext>
                </a:extLst>
              </p:cNvPr>
              <p:cNvSpPr txBox="1"/>
              <p:nvPr/>
            </p:nvSpPr>
            <p:spPr>
              <a:xfrm>
                <a:off x="5294278" y="5332917"/>
                <a:ext cx="6094378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baseline="300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𝐨</m:t>
                          </m:r>
                          <m:r>
                            <a:rPr lang="en-IN" sz="2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𝑭</m:t>
                          </m:r>
                        </m:e>
                      </m:d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𝑻</m:t>
                          </m:r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1" baseline="30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𝐨</m:t>
                              </m:r>
                              <m:r>
                                <a:rPr lang="en-IN" sz="2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𝑪</m:t>
                              </m:r>
                            </m:e>
                          </m:d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f>
                            <m:fPr>
                              <m:ctrlP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IN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d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A02FEB9-6949-5730-6F50-BEE97729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278" y="5332917"/>
                <a:ext cx="6094378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20872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8" grpId="0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5285C2A-6E0B-2FCA-DD96-6F5BC44F6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sp>
        <p:nvSpPr>
          <p:cNvPr id="3" name="Google Shape;74;p16">
            <a:extLst>
              <a:ext uri="{FF2B5EF4-FFF2-40B4-BE49-F238E27FC236}">
                <a16:creationId xmlns:a16="http://schemas.microsoft.com/office/drawing/2014/main" xmlns="" id="{DDC94199-1F7E-6640-83C6-5A3808E2B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5200" y="76705"/>
            <a:ext cx="7287990" cy="508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" sz="3200" dirty="0"/>
              <a:t>Program: Objective 4(a)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95B39C4-7F91-59BC-AA29-5289471324C0}"/>
              </a:ext>
            </a:extLst>
          </p:cNvPr>
          <p:cNvSpPr txBox="1"/>
          <p:nvPr/>
        </p:nvSpPr>
        <p:spPr>
          <a:xfrm>
            <a:off x="123825" y="733425"/>
            <a:ext cx="75628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smtClean="0">
                <a:latin typeface="Consolas" panose="020B0609020204030204" pitchFamily="49" charset="0"/>
              </a:rPr>
              <a:t>float Vo = 0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float </a:t>
            </a:r>
            <a:r>
              <a:rPr lang="en-IN" dirty="0" smtClean="0">
                <a:latin typeface="Consolas" panose="020B0609020204030204" pitchFamily="49" charset="0"/>
              </a:rPr>
              <a:t>R1 = 10000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float </a:t>
            </a:r>
            <a:r>
              <a:rPr lang="en-IN" dirty="0" smtClean="0">
                <a:latin typeface="Consolas" panose="020B0609020204030204" pitchFamily="49" charset="0"/>
              </a:rPr>
              <a:t>R2, </a:t>
            </a:r>
            <a:r>
              <a:rPr lang="en-IN" dirty="0" err="1" smtClean="0">
                <a:latin typeface="Consolas" panose="020B0609020204030204" pitchFamily="49" charset="0"/>
              </a:rPr>
              <a:t>T_Kelvin</a:t>
            </a:r>
            <a:r>
              <a:rPr lang="en-IN" dirty="0" smtClean="0">
                <a:latin typeface="Consolas" panose="020B0609020204030204" pitchFamily="49" charset="0"/>
              </a:rPr>
              <a:t>, </a:t>
            </a:r>
            <a:r>
              <a:rPr lang="en-IN" dirty="0" err="1" smtClean="0">
                <a:latin typeface="Consolas" panose="020B0609020204030204" pitchFamily="49" charset="0"/>
              </a:rPr>
              <a:t>T_Celsius</a:t>
            </a:r>
            <a:r>
              <a:rPr lang="en-IN" dirty="0" smtClean="0">
                <a:latin typeface="Consolas" panose="020B0609020204030204" pitchFamily="49" charset="0"/>
              </a:rPr>
              <a:t>, </a:t>
            </a:r>
            <a:r>
              <a:rPr lang="en-IN" dirty="0" err="1" smtClean="0">
                <a:latin typeface="Consolas" panose="020B0609020204030204" pitchFamily="49" charset="0"/>
              </a:rPr>
              <a:t>T_Fahrenheit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float </a:t>
            </a:r>
            <a:r>
              <a:rPr lang="en-IN" dirty="0" smtClean="0">
                <a:latin typeface="Consolas" panose="020B0609020204030204" pitchFamily="49" charset="0"/>
              </a:rPr>
              <a:t>c1 = 1.009249522e-03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float </a:t>
            </a:r>
            <a:r>
              <a:rPr lang="en-IN" dirty="0" smtClean="0">
                <a:latin typeface="Consolas" panose="020B0609020204030204" pitchFamily="49" charset="0"/>
              </a:rPr>
              <a:t>c2 = 2.378405444e-04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float </a:t>
            </a:r>
            <a:r>
              <a:rPr lang="en-IN" dirty="0" smtClean="0">
                <a:latin typeface="Consolas" panose="020B0609020204030204" pitchFamily="49" charset="0"/>
              </a:rPr>
              <a:t>c3 = 2.019202697e-07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void </a:t>
            </a:r>
            <a:r>
              <a:rPr lang="en-IN" dirty="0" smtClean="0">
                <a:latin typeface="Consolas" panose="020B0609020204030204" pitchFamily="49" charset="0"/>
              </a:rPr>
              <a:t>setup() </a:t>
            </a:r>
            <a:endParaRPr lang="en-IN" dirty="0" smtClean="0">
              <a:latin typeface="Consolas" panose="020B0609020204030204" pitchFamily="49" charset="0"/>
            </a:endParaRPr>
          </a:p>
          <a:p>
            <a:r>
              <a:rPr lang="en-IN" dirty="0" smtClean="0">
                <a:latin typeface="Consolas" panose="020B0609020204030204" pitchFamily="49" charset="0"/>
              </a:rPr>
              <a:t>{ 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Serial.begin</a:t>
            </a:r>
            <a:r>
              <a:rPr lang="en-IN" dirty="0" smtClean="0">
                <a:latin typeface="Consolas" panose="020B0609020204030204" pitchFamily="49" charset="0"/>
              </a:rPr>
              <a:t>(9600);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}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void </a:t>
            </a:r>
            <a:r>
              <a:rPr lang="en-IN" dirty="0" smtClean="0">
                <a:latin typeface="Consolas" panose="020B0609020204030204" pitchFamily="49" charset="0"/>
              </a:rPr>
              <a:t>loop() </a:t>
            </a:r>
            <a:endParaRPr lang="en-IN" dirty="0" smtClean="0">
              <a:latin typeface="Consolas" panose="020B0609020204030204" pitchFamily="49" charset="0"/>
            </a:endParaRPr>
          </a:p>
          <a:p>
            <a:r>
              <a:rPr lang="en-IN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Vo </a:t>
            </a:r>
            <a:r>
              <a:rPr lang="en-IN" dirty="0" smtClean="0">
                <a:latin typeface="Consolas" panose="020B0609020204030204" pitchFamily="49" charset="0"/>
              </a:rPr>
              <a:t>= </a:t>
            </a:r>
            <a:r>
              <a:rPr lang="en-IN" dirty="0" err="1" smtClean="0">
                <a:latin typeface="Consolas" panose="020B0609020204030204" pitchFamily="49" charset="0"/>
              </a:rPr>
              <a:t>analogRead</a:t>
            </a:r>
            <a:r>
              <a:rPr lang="en-IN" dirty="0" smtClean="0">
                <a:latin typeface="Consolas" panose="020B0609020204030204" pitchFamily="49" charset="0"/>
              </a:rPr>
              <a:t>(A1</a:t>
            </a:r>
            <a:r>
              <a:rPr lang="en-IN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R2 </a:t>
            </a:r>
            <a:r>
              <a:rPr lang="en-IN" dirty="0" smtClean="0">
                <a:latin typeface="Consolas" panose="020B0609020204030204" pitchFamily="49" charset="0"/>
              </a:rPr>
              <a:t>= R1 * ((1023.0 / Vo) - 1.0</a:t>
            </a:r>
            <a:r>
              <a:rPr lang="en-IN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T_Kelvin</a:t>
            </a:r>
            <a:r>
              <a:rPr lang="en-IN" dirty="0" smtClean="0">
                <a:latin typeface="Consolas" panose="020B0609020204030204" pitchFamily="49" charset="0"/>
              </a:rPr>
              <a:t>=(1.0</a:t>
            </a:r>
            <a:r>
              <a:rPr lang="en-IN" dirty="0" smtClean="0">
                <a:latin typeface="Consolas" panose="020B0609020204030204" pitchFamily="49" charset="0"/>
              </a:rPr>
              <a:t>/(c1+c2*log(R2)+c3*log(R2)*log(R2)*log(R2</a:t>
            </a:r>
            <a:r>
              <a:rPr lang="en-IN" dirty="0" smtClean="0">
                <a:latin typeface="Consolas" panose="020B0609020204030204" pitchFamily="49" charset="0"/>
              </a:rPr>
              <a:t>)));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T_Celsius</a:t>
            </a:r>
            <a:r>
              <a:rPr lang="en-IN" dirty="0" smtClean="0">
                <a:latin typeface="Consolas" panose="020B0609020204030204" pitchFamily="49" charset="0"/>
              </a:rPr>
              <a:t> </a:t>
            </a:r>
            <a:r>
              <a:rPr lang="en-IN" dirty="0" smtClean="0">
                <a:latin typeface="Consolas" panose="020B0609020204030204" pitchFamily="49" charset="0"/>
              </a:rPr>
              <a:t>= </a:t>
            </a:r>
            <a:r>
              <a:rPr lang="en-IN" dirty="0" err="1" smtClean="0">
                <a:latin typeface="Consolas" panose="020B0609020204030204" pitchFamily="49" charset="0"/>
              </a:rPr>
              <a:t>T_Kelvin</a:t>
            </a:r>
            <a:r>
              <a:rPr lang="en-IN" dirty="0" smtClean="0">
                <a:latin typeface="Consolas" panose="020B0609020204030204" pitchFamily="49" charset="0"/>
              </a:rPr>
              <a:t> - 273.15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T_Fahrenheit</a:t>
            </a:r>
            <a:r>
              <a:rPr lang="en-IN" dirty="0" smtClean="0">
                <a:latin typeface="Consolas" panose="020B0609020204030204" pitchFamily="49" charset="0"/>
              </a:rPr>
              <a:t> </a:t>
            </a:r>
            <a:r>
              <a:rPr lang="en-IN" dirty="0" smtClean="0">
                <a:latin typeface="Consolas" panose="020B0609020204030204" pitchFamily="49" charset="0"/>
              </a:rPr>
              <a:t>= (</a:t>
            </a:r>
            <a:r>
              <a:rPr lang="en-IN" dirty="0" err="1" smtClean="0">
                <a:latin typeface="Consolas" panose="020B0609020204030204" pitchFamily="49" charset="0"/>
              </a:rPr>
              <a:t>T_Celsius</a:t>
            </a:r>
            <a:r>
              <a:rPr lang="en-IN" dirty="0" smtClean="0">
                <a:latin typeface="Consolas" panose="020B0609020204030204" pitchFamily="49" charset="0"/>
              </a:rPr>
              <a:t> * 9.0)/ 5.0 + 32.0</a:t>
            </a:r>
            <a:r>
              <a:rPr lang="en-IN" dirty="0" smtClean="0">
                <a:latin typeface="Consolas" panose="020B0609020204030204" pitchFamily="49" charset="0"/>
              </a:rPr>
              <a:t>;</a:t>
            </a:r>
          </a:p>
          <a:p>
            <a:endParaRPr lang="en-IN" dirty="0" smtClean="0">
              <a:latin typeface="Consolas" panose="020B0609020204030204" pitchFamily="49" charset="0"/>
            </a:endParaRPr>
          </a:p>
          <a:p>
            <a:endParaRPr lang="en-IN" dirty="0" smtClean="0">
              <a:latin typeface="Consolas" panose="020B0609020204030204" pitchFamily="49" charset="0"/>
            </a:endParaRPr>
          </a:p>
          <a:p>
            <a:endParaRPr lang="en-IN" dirty="0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3326" y="619126"/>
            <a:ext cx="42576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("Resistance: 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(R2);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Serial.println</a:t>
            </a:r>
            <a:r>
              <a:rPr lang="en-IN" dirty="0" smtClean="0">
                <a:latin typeface="Consolas" panose="020B0609020204030204" pitchFamily="49" charset="0"/>
              </a:rPr>
              <a:t>(" Ohms");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("Temperature: </a:t>
            </a:r>
            <a:r>
              <a:rPr lang="en-IN" dirty="0" smtClean="0">
                <a:latin typeface="Consolas" panose="020B0609020204030204" pitchFamily="49" charset="0"/>
              </a:rPr>
              <a:t>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</a:t>
            </a:r>
            <a:r>
              <a:rPr lang="en-IN" dirty="0" err="1" smtClean="0">
                <a:latin typeface="Consolas" panose="020B0609020204030204" pitchFamily="49" charset="0"/>
              </a:rPr>
              <a:t>T_Kelvin</a:t>
            </a:r>
            <a:r>
              <a:rPr lang="en-IN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Serial.println</a:t>
            </a:r>
            <a:r>
              <a:rPr lang="en-IN" dirty="0" smtClean="0">
                <a:latin typeface="Consolas" panose="020B0609020204030204" pitchFamily="49" charset="0"/>
              </a:rPr>
              <a:t>("  Kelvin</a:t>
            </a:r>
            <a:r>
              <a:rPr lang="en-IN" dirty="0" smtClean="0">
                <a:latin typeface="Consolas" panose="020B0609020204030204" pitchFamily="49" charset="0"/>
              </a:rPr>
              <a:t>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("Temperature: </a:t>
            </a:r>
            <a:r>
              <a:rPr lang="en-IN" dirty="0" smtClean="0">
                <a:latin typeface="Consolas" panose="020B0609020204030204" pitchFamily="49" charset="0"/>
              </a:rPr>
              <a:t>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</a:t>
            </a:r>
            <a:r>
              <a:rPr lang="en-IN" dirty="0" err="1" smtClean="0">
                <a:latin typeface="Consolas" panose="020B0609020204030204" pitchFamily="49" charset="0"/>
              </a:rPr>
              <a:t>T_Celsius</a:t>
            </a:r>
            <a:r>
              <a:rPr lang="en-IN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Serial.println</a:t>
            </a:r>
            <a:r>
              <a:rPr lang="en-IN" dirty="0" smtClean="0">
                <a:latin typeface="Consolas" panose="020B0609020204030204" pitchFamily="49" charset="0"/>
              </a:rPr>
              <a:t>("  Celsius</a:t>
            </a:r>
            <a:r>
              <a:rPr lang="en-IN" dirty="0" smtClean="0">
                <a:latin typeface="Consolas" panose="020B0609020204030204" pitchFamily="49" charset="0"/>
              </a:rPr>
              <a:t>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("Temperature: </a:t>
            </a:r>
            <a:r>
              <a:rPr lang="en-IN" dirty="0" smtClean="0">
                <a:latin typeface="Consolas" panose="020B0609020204030204" pitchFamily="49" charset="0"/>
              </a:rPr>
              <a:t>");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</a:t>
            </a:r>
            <a:r>
              <a:rPr lang="en-IN" dirty="0" smtClean="0">
                <a:latin typeface="Consolas" panose="020B0609020204030204" pitchFamily="49" charset="0"/>
              </a:rPr>
              <a:t>(</a:t>
            </a:r>
            <a:r>
              <a:rPr lang="en-IN" dirty="0" err="1" smtClean="0">
                <a:latin typeface="Consolas" panose="020B0609020204030204" pitchFamily="49" charset="0"/>
              </a:rPr>
              <a:t>T_Fahrenheit</a:t>
            </a:r>
            <a:r>
              <a:rPr lang="en-IN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IN" dirty="0" err="1" smtClean="0">
                <a:latin typeface="Consolas" panose="020B0609020204030204" pitchFamily="49" charset="0"/>
              </a:rPr>
              <a:t>Serial.println</a:t>
            </a:r>
            <a:r>
              <a:rPr lang="en-IN" dirty="0" smtClean="0">
                <a:latin typeface="Consolas" panose="020B0609020204030204" pitchFamily="49" charset="0"/>
              </a:rPr>
              <a:t>("  Fahrenheit</a:t>
            </a:r>
            <a:r>
              <a:rPr lang="en-IN" dirty="0" smtClean="0">
                <a:latin typeface="Consolas" panose="020B0609020204030204" pitchFamily="49" charset="0"/>
              </a:rPr>
              <a:t>");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delay(2000);</a:t>
            </a:r>
          </a:p>
          <a:p>
            <a:r>
              <a:rPr lang="en-IN" dirty="0" smtClean="0">
                <a:latin typeface="Consolas" panose="020B0609020204030204" pitchFamily="49" charset="0"/>
              </a:rPr>
              <a:t>}</a:t>
            </a:r>
            <a:endParaRPr lang="en-I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9797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695200" y="76705"/>
            <a:ext cx="7287990" cy="508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" sz="3200" dirty="0"/>
              <a:t>Circuit Connections: Objective 4(b)</a:t>
            </a:r>
            <a:endParaRPr sz="32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A9B7C80-296A-AF4C-57F6-2F9C4DC19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7326" y="1122036"/>
            <a:ext cx="7623835" cy="46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1647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2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838201"/>
            <a:ext cx="6813550" cy="581977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float Vo = 0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R1 = 10000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R2, </a:t>
            </a:r>
            <a:r>
              <a:rPr lang="en-US" dirty="0" err="1" smtClean="0"/>
              <a:t>T_Kelvin</a:t>
            </a:r>
            <a:r>
              <a:rPr lang="en-US" dirty="0" smtClean="0"/>
              <a:t>, </a:t>
            </a:r>
            <a:r>
              <a:rPr lang="en-US" dirty="0" err="1" smtClean="0"/>
              <a:t>T_Celsius</a:t>
            </a:r>
            <a:r>
              <a:rPr lang="en-US" dirty="0" smtClean="0"/>
              <a:t>, </a:t>
            </a:r>
            <a:r>
              <a:rPr lang="en-US" dirty="0" err="1" smtClean="0"/>
              <a:t>T_Fahrenheit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c1 = 1.009249522e-03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c2 = 2.378405444e-04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c3 = 2.019202697e-07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smtClean="0"/>
              <a:t>setup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err="1" smtClean="0"/>
              <a:t>Serial.begin</a:t>
            </a:r>
            <a:r>
              <a:rPr lang="en-US" dirty="0" smtClean="0"/>
              <a:t>(9600);</a:t>
            </a:r>
          </a:p>
          <a:p>
            <a:pPr>
              <a:buNone/>
            </a:pPr>
            <a:r>
              <a:rPr lang="en-US" dirty="0" err="1" smtClean="0"/>
              <a:t>pinMode</a:t>
            </a:r>
            <a:r>
              <a:rPr lang="en-US" dirty="0" smtClean="0"/>
              <a:t>(13,OUTPUT);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smtClean="0"/>
              <a:t>loop()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Vo </a:t>
            </a:r>
            <a:r>
              <a:rPr lang="en-US" dirty="0" smtClean="0"/>
              <a:t>= </a:t>
            </a:r>
            <a:r>
              <a:rPr lang="en-US" dirty="0" err="1" smtClean="0"/>
              <a:t>analogRead</a:t>
            </a:r>
            <a:r>
              <a:rPr lang="en-US" dirty="0" smtClean="0"/>
              <a:t>(A1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R2 </a:t>
            </a:r>
            <a:r>
              <a:rPr lang="en-US" dirty="0" smtClean="0"/>
              <a:t>= R1 * ((1023.0 / Vo) - 1.0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err="1" smtClean="0"/>
              <a:t>T_Kelvin</a:t>
            </a:r>
            <a:r>
              <a:rPr lang="en-US" dirty="0" smtClean="0"/>
              <a:t> </a:t>
            </a:r>
            <a:r>
              <a:rPr lang="en-US" dirty="0" smtClean="0"/>
              <a:t>= (1.0/(c1+c2*log(R2)+c3*log(R2)*log(R2)*log(R2</a:t>
            </a:r>
            <a:r>
              <a:rPr lang="en-US" dirty="0" smtClean="0"/>
              <a:t>)));</a:t>
            </a:r>
          </a:p>
          <a:p>
            <a:pPr>
              <a:buNone/>
            </a:pPr>
            <a:r>
              <a:rPr lang="en-US" dirty="0" err="1" smtClean="0"/>
              <a:t>T_Celsius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T_Kelvin</a:t>
            </a:r>
            <a:r>
              <a:rPr lang="en-US" dirty="0" smtClean="0"/>
              <a:t> - 273.15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err="1" smtClean="0"/>
              <a:t>T_Fahrenheit</a:t>
            </a:r>
            <a:r>
              <a:rPr lang="en-US" dirty="0" smtClean="0"/>
              <a:t> </a:t>
            </a:r>
            <a:r>
              <a:rPr lang="en-US" dirty="0" smtClean="0"/>
              <a:t>= (</a:t>
            </a:r>
            <a:r>
              <a:rPr lang="en-US" dirty="0" err="1" smtClean="0"/>
              <a:t>T_Celsius</a:t>
            </a:r>
            <a:r>
              <a:rPr lang="en-US" dirty="0" smtClean="0"/>
              <a:t> * 9.0)/ 5.0 + 32.0</a:t>
            </a:r>
            <a:r>
              <a:rPr lang="en-US" dirty="0" smtClean="0"/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2100" y="603250"/>
            <a:ext cx="3775075" cy="5845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("Resistance: 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(R2);</a:t>
            </a:r>
          </a:p>
          <a:p>
            <a:pPr>
              <a:buNone/>
            </a:pPr>
            <a:r>
              <a:rPr lang="en-US" dirty="0" err="1" smtClean="0"/>
              <a:t>Serial.println</a:t>
            </a:r>
            <a:r>
              <a:rPr lang="en-US" dirty="0" smtClean="0"/>
              <a:t>(" Ohms");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("Temperature: 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</a:t>
            </a:r>
            <a:r>
              <a:rPr lang="en-US" dirty="0" err="1" smtClean="0"/>
              <a:t>T_Kelvin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err="1" smtClean="0"/>
              <a:t>Serial.println</a:t>
            </a:r>
            <a:r>
              <a:rPr lang="en-US" dirty="0" smtClean="0"/>
              <a:t>(" Kelvin");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("Temperature: 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</a:t>
            </a:r>
            <a:r>
              <a:rPr lang="en-US" dirty="0" err="1" smtClean="0"/>
              <a:t>T_Celsius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err="1" smtClean="0"/>
              <a:t>Serial.println</a:t>
            </a:r>
            <a:r>
              <a:rPr lang="en-US" dirty="0" smtClean="0"/>
              <a:t>("  Celsius");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("Temperature: ");</a:t>
            </a:r>
          </a:p>
          <a:p>
            <a:pPr>
              <a:buNone/>
            </a:pPr>
            <a:r>
              <a:rPr lang="en-US" dirty="0" err="1" smtClean="0"/>
              <a:t>Serial.print</a:t>
            </a:r>
            <a:r>
              <a:rPr lang="en-US" dirty="0" smtClean="0"/>
              <a:t>(</a:t>
            </a:r>
            <a:r>
              <a:rPr lang="en-US" dirty="0" err="1" smtClean="0"/>
              <a:t>T_Fahrenheit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err="1" smtClean="0"/>
              <a:t>Serial.println</a:t>
            </a:r>
            <a:r>
              <a:rPr lang="en-US" dirty="0" smtClean="0"/>
              <a:t>("  Fahrenheit</a:t>
            </a:r>
            <a:r>
              <a:rPr lang="en-US" dirty="0" smtClean="0"/>
              <a:t>");</a:t>
            </a:r>
          </a:p>
          <a:p>
            <a:pPr>
              <a:buNone/>
            </a:pPr>
            <a:r>
              <a:rPr lang="en-US" dirty="0" smtClean="0"/>
              <a:t>if </a:t>
            </a:r>
            <a:r>
              <a:rPr lang="en-US" dirty="0" smtClean="0"/>
              <a:t>(</a:t>
            </a:r>
            <a:r>
              <a:rPr lang="en-US" dirty="0" err="1" smtClean="0"/>
              <a:t>T_Celsius</a:t>
            </a:r>
            <a:r>
              <a:rPr lang="en-US" dirty="0" smtClean="0"/>
              <a:t>&gt;=30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digitalWrite</a:t>
            </a:r>
            <a:r>
              <a:rPr lang="en-US" dirty="0" smtClean="0"/>
              <a:t>(13,HIGH);</a:t>
            </a:r>
          </a:p>
          <a:p>
            <a:pPr>
              <a:buNone/>
            </a:pPr>
            <a:r>
              <a:rPr lang="en-US" dirty="0" smtClean="0"/>
              <a:t>delay(1000);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delay(1000);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695200" y="76705"/>
            <a:ext cx="7287990" cy="508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" sz="3200" dirty="0"/>
              <a:t>Circuit Connections: Objective 4(c)</a:t>
            </a:r>
            <a:endParaRPr sz="32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695200" y="5913325"/>
            <a:ext cx="68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2575C7B-CD6A-0F5A-186E-4EB4395E1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7111C71-886B-65D6-27B8-A28A6B2196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77798" y="1095497"/>
            <a:ext cx="8436404" cy="492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1991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" y="723900"/>
            <a:ext cx="4419600" cy="593407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float V0=0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R1 = 10000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RT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err="1" smtClean="0"/>
              <a:t>T_Kelvin</a:t>
            </a:r>
            <a:r>
              <a:rPr lang="en-US" dirty="0" smtClean="0"/>
              <a:t>, </a:t>
            </a:r>
            <a:r>
              <a:rPr lang="en-US" dirty="0" err="1" smtClean="0"/>
              <a:t>T_Celsius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err="1" smtClean="0"/>
              <a:t>T_Fahrenheit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c1=1.009249522e-03;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c2=2.378405444e-04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smtClean="0"/>
              <a:t>c3=2.019202697e-07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smtClean="0"/>
              <a:t>setup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{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Serial.begin</a:t>
            </a:r>
            <a:r>
              <a:rPr lang="en-US" dirty="0" smtClean="0"/>
              <a:t>(9600);    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pinMode</a:t>
            </a:r>
            <a:r>
              <a:rPr lang="en-US" dirty="0" smtClean="0"/>
              <a:t>(13,OUTPUT</a:t>
            </a:r>
            <a:r>
              <a:rPr lang="en-US" dirty="0" smtClean="0"/>
              <a:t>);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pinMode</a:t>
            </a:r>
            <a:r>
              <a:rPr lang="en-US" dirty="0" smtClean="0"/>
              <a:t>(7,OUTPUT);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smtClean="0"/>
              <a:t>loop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251" y="1981200"/>
            <a:ext cx="36004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Serial.print</a:t>
            </a:r>
            <a:r>
              <a:rPr lang="en-US" dirty="0" smtClean="0"/>
              <a:t>(" Thermal Resistance</a:t>
            </a:r>
            <a:r>
              <a:rPr lang="en-US" dirty="0" smtClean="0"/>
              <a:t>:");</a:t>
            </a:r>
          </a:p>
          <a:p>
            <a:r>
              <a:rPr lang="en-US" dirty="0" err="1" smtClean="0"/>
              <a:t>Serial.print</a:t>
            </a:r>
            <a:r>
              <a:rPr lang="en-US" dirty="0" smtClean="0"/>
              <a:t>(RT);</a:t>
            </a:r>
          </a:p>
          <a:p>
            <a:r>
              <a:rPr lang="en-US" dirty="0" err="1" smtClean="0"/>
              <a:t>Serial.println</a:t>
            </a:r>
            <a:r>
              <a:rPr lang="en-US" dirty="0" smtClean="0"/>
              <a:t>(" Ohms</a:t>
            </a:r>
            <a:r>
              <a:rPr lang="en-US" dirty="0" smtClean="0"/>
              <a:t>");</a:t>
            </a:r>
          </a:p>
          <a:p>
            <a:r>
              <a:rPr lang="en-US" dirty="0" err="1" smtClean="0"/>
              <a:t>Serial.println</a:t>
            </a:r>
            <a:r>
              <a:rPr lang="en-US" dirty="0" smtClean="0"/>
              <a:t>(" </a:t>
            </a:r>
            <a:r>
              <a:rPr lang="en-US" dirty="0" err="1" smtClean="0"/>
              <a:t>Temparature</a:t>
            </a:r>
            <a:r>
              <a:rPr lang="en-US" dirty="0" smtClean="0"/>
              <a:t>:");</a:t>
            </a:r>
          </a:p>
          <a:p>
            <a:r>
              <a:rPr lang="en-US" dirty="0" err="1" smtClean="0"/>
              <a:t>Serial.print</a:t>
            </a:r>
            <a:r>
              <a:rPr lang="en-US" dirty="0" smtClean="0"/>
              <a:t>(</a:t>
            </a:r>
            <a:r>
              <a:rPr lang="en-US" dirty="0" err="1" smtClean="0"/>
              <a:t>T_Kelvin</a:t>
            </a:r>
            <a:r>
              <a:rPr lang="en-US" dirty="0" smtClean="0"/>
              <a:t>);</a:t>
            </a:r>
          </a:p>
          <a:p>
            <a:r>
              <a:rPr lang="en-US" dirty="0" err="1" smtClean="0"/>
              <a:t>Serial.println</a:t>
            </a:r>
            <a:r>
              <a:rPr lang="en-US" dirty="0" smtClean="0"/>
              <a:t>(" </a:t>
            </a:r>
            <a:r>
              <a:rPr lang="en-US" dirty="0" err="1" smtClean="0"/>
              <a:t>kelvin</a:t>
            </a:r>
            <a:r>
              <a:rPr lang="en-US" dirty="0" smtClean="0"/>
              <a:t>");</a:t>
            </a:r>
          </a:p>
          <a:p>
            <a:r>
              <a:rPr lang="en-US" dirty="0" err="1" smtClean="0"/>
              <a:t>Serial.print</a:t>
            </a:r>
            <a:r>
              <a:rPr lang="en-US" dirty="0" smtClean="0"/>
              <a:t>(" </a:t>
            </a:r>
            <a:r>
              <a:rPr lang="en-US" dirty="0" err="1" smtClean="0"/>
              <a:t>Temparature</a:t>
            </a:r>
            <a:r>
              <a:rPr lang="en-US" dirty="0" smtClean="0"/>
              <a:t>:");</a:t>
            </a:r>
          </a:p>
          <a:p>
            <a:r>
              <a:rPr lang="en-US" dirty="0" err="1" smtClean="0"/>
              <a:t>Serial.print</a:t>
            </a:r>
            <a:r>
              <a:rPr lang="en-US" dirty="0" smtClean="0"/>
              <a:t>(</a:t>
            </a:r>
            <a:r>
              <a:rPr lang="en-US" dirty="0" err="1" smtClean="0"/>
              <a:t>T_Celsius</a:t>
            </a:r>
            <a:r>
              <a:rPr lang="en-US" dirty="0" smtClean="0"/>
              <a:t>);</a:t>
            </a:r>
          </a:p>
          <a:p>
            <a:r>
              <a:rPr lang="en-US" dirty="0" err="1" smtClean="0"/>
              <a:t>Serial.println</a:t>
            </a:r>
            <a:r>
              <a:rPr lang="en-US" dirty="0" smtClean="0"/>
              <a:t>(" </a:t>
            </a:r>
            <a:r>
              <a:rPr lang="en-US" dirty="0" err="1" smtClean="0"/>
              <a:t>celsius</a:t>
            </a:r>
            <a:r>
              <a:rPr lang="en-US" dirty="0" smtClean="0"/>
              <a:t>");</a:t>
            </a:r>
          </a:p>
          <a:p>
            <a:r>
              <a:rPr lang="en-US" dirty="0" err="1" smtClean="0"/>
              <a:t>Serial.print</a:t>
            </a:r>
            <a:r>
              <a:rPr lang="en-US" dirty="0" smtClean="0"/>
              <a:t>("</a:t>
            </a:r>
            <a:r>
              <a:rPr lang="en-US" dirty="0" err="1" smtClean="0"/>
              <a:t>Temparature</a:t>
            </a:r>
            <a:r>
              <a:rPr lang="en-US" dirty="0" smtClean="0"/>
              <a:t>:");</a:t>
            </a:r>
          </a:p>
          <a:p>
            <a:r>
              <a:rPr lang="en-US" dirty="0" err="1" smtClean="0"/>
              <a:t>Serial.print</a:t>
            </a:r>
            <a:r>
              <a:rPr lang="en-US" dirty="0" smtClean="0"/>
              <a:t>(</a:t>
            </a:r>
            <a:r>
              <a:rPr lang="en-US" dirty="0" err="1" smtClean="0"/>
              <a:t>T_Fahrenheit</a:t>
            </a:r>
            <a:r>
              <a:rPr lang="en-US" dirty="0" smtClean="0"/>
              <a:t>);</a:t>
            </a:r>
          </a:p>
          <a:p>
            <a:r>
              <a:rPr lang="en-US" dirty="0" err="1" smtClean="0"/>
              <a:t>Serial.println</a:t>
            </a:r>
            <a:r>
              <a:rPr lang="en-US" dirty="0" smtClean="0"/>
              <a:t>(" Fahrenheit</a:t>
            </a:r>
            <a:r>
              <a:rPr lang="en-US" dirty="0" smtClean="0"/>
              <a:t>");</a:t>
            </a:r>
          </a:p>
          <a:p>
            <a:r>
              <a:rPr lang="en-US" dirty="0" smtClean="0"/>
              <a:t>delay(1000);</a:t>
            </a:r>
          </a:p>
          <a:p>
            <a:r>
              <a:rPr lang="en-US" dirty="0" smtClean="0"/>
              <a:t>}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67074" y="495300"/>
            <a:ext cx="62960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 smtClean="0"/>
              <a:t>V0=</a:t>
            </a:r>
            <a:r>
              <a:rPr lang="en-US" dirty="0" err="1" smtClean="0"/>
              <a:t>analogRead</a:t>
            </a:r>
            <a:r>
              <a:rPr lang="en-US" dirty="0" smtClean="0"/>
              <a:t>(A0);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RT </a:t>
            </a:r>
            <a:r>
              <a:rPr lang="en-US" dirty="0" smtClean="0"/>
              <a:t>= R1*((1023.0/V0) -1.0);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T_Kelvin</a:t>
            </a:r>
            <a:r>
              <a:rPr lang="en-US" dirty="0" smtClean="0"/>
              <a:t> = (1.0/(c1+c2*log(RT)+c3*log(RT)*log(RT)*log(RT)));</a:t>
            </a:r>
          </a:p>
          <a:p>
            <a:pPr>
              <a:buNone/>
            </a:pPr>
            <a:r>
              <a:rPr lang="en-US" dirty="0" err="1" smtClean="0"/>
              <a:t>T_Celsius</a:t>
            </a:r>
            <a:r>
              <a:rPr lang="en-US" dirty="0" smtClean="0"/>
              <a:t>=T_Kelvin-273.15;</a:t>
            </a:r>
          </a:p>
          <a:p>
            <a:pPr>
              <a:buNone/>
            </a:pPr>
            <a:r>
              <a:rPr lang="en-US" dirty="0" err="1" smtClean="0"/>
              <a:t>T_Fahrenheit</a:t>
            </a:r>
            <a:r>
              <a:rPr lang="en-US" dirty="0" smtClean="0"/>
              <a:t>=(</a:t>
            </a:r>
            <a:r>
              <a:rPr lang="en-US" dirty="0" err="1" smtClean="0"/>
              <a:t>T_Celsius</a:t>
            </a:r>
            <a:r>
              <a:rPr lang="en-US" dirty="0" smtClean="0"/>
              <a:t>*9.0)/5.0+32.0;</a:t>
            </a:r>
          </a:p>
          <a:p>
            <a:endParaRPr lang="en-US" dirty="0" smtClean="0"/>
          </a:p>
          <a:p>
            <a:r>
              <a:rPr lang="en-US" dirty="0" smtClean="0"/>
              <a:t>if(</a:t>
            </a:r>
            <a:r>
              <a:rPr lang="en-US" dirty="0" err="1" smtClean="0"/>
              <a:t>T_Fahrenheit</a:t>
            </a:r>
            <a:r>
              <a:rPr lang="en-US" dirty="0" smtClean="0"/>
              <a:t>&lt;=95)</a:t>
            </a:r>
          </a:p>
          <a:p>
            <a:r>
              <a:rPr lang="en-US" dirty="0" smtClean="0"/>
              <a:t>{  </a:t>
            </a:r>
            <a:r>
              <a:rPr lang="en-US" dirty="0" err="1" smtClean="0"/>
              <a:t>digitalWrite</a:t>
            </a:r>
            <a:r>
              <a:rPr lang="en-US" dirty="0" smtClean="0"/>
              <a:t>(13,LOW);  </a:t>
            </a:r>
          </a:p>
          <a:p>
            <a:r>
              <a:rPr lang="en-US" dirty="0" err="1" smtClean="0"/>
              <a:t>digitalWrite</a:t>
            </a:r>
            <a:r>
              <a:rPr lang="en-US" dirty="0" smtClean="0"/>
              <a:t>(7,LOW);  </a:t>
            </a:r>
            <a:endParaRPr lang="en-US" dirty="0" smtClean="0"/>
          </a:p>
          <a:p>
            <a:r>
              <a:rPr lang="en-US" dirty="0" smtClean="0"/>
              <a:t>delay(1000);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else if(</a:t>
            </a:r>
            <a:r>
              <a:rPr lang="en-US" dirty="0" err="1" smtClean="0"/>
              <a:t>T_Fahrenheit</a:t>
            </a:r>
            <a:r>
              <a:rPr lang="en-US" dirty="0" smtClean="0"/>
              <a:t>&gt;=95 &amp;&amp; </a:t>
            </a:r>
            <a:r>
              <a:rPr lang="en-US" dirty="0" err="1" smtClean="0"/>
              <a:t>T_Fahrenheit</a:t>
            </a:r>
            <a:r>
              <a:rPr lang="en-US" dirty="0" smtClean="0"/>
              <a:t>&lt;=99)</a:t>
            </a:r>
          </a:p>
          <a:p>
            <a:r>
              <a:rPr lang="en-US" dirty="0" smtClean="0"/>
              <a:t>{  </a:t>
            </a:r>
          </a:p>
          <a:p>
            <a:r>
              <a:rPr lang="en-US" dirty="0" err="1" smtClean="0"/>
              <a:t>digitalWrite</a:t>
            </a:r>
            <a:r>
              <a:rPr lang="en-US" dirty="0" smtClean="0"/>
              <a:t>(13,HIGH);  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digitalWrite</a:t>
            </a:r>
            <a:r>
              <a:rPr lang="en-US" dirty="0" smtClean="0"/>
              <a:t>(7,LOW); </a:t>
            </a:r>
          </a:p>
          <a:p>
            <a:r>
              <a:rPr lang="en-US" dirty="0" smtClean="0"/>
              <a:t> </a:t>
            </a:r>
            <a:r>
              <a:rPr lang="en-US" dirty="0" smtClean="0"/>
              <a:t>delay(1000);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else</a:t>
            </a:r>
          </a:p>
          <a:p>
            <a:r>
              <a:rPr lang="en-US" dirty="0" smtClean="0"/>
              <a:t>{  </a:t>
            </a:r>
          </a:p>
          <a:p>
            <a:r>
              <a:rPr lang="en-US" dirty="0" err="1" smtClean="0"/>
              <a:t>digitalWrite</a:t>
            </a:r>
            <a:r>
              <a:rPr lang="en-US" dirty="0" smtClean="0"/>
              <a:t>(13,HIGH); 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digitalWrite</a:t>
            </a:r>
            <a:r>
              <a:rPr lang="en-US" dirty="0" smtClean="0"/>
              <a:t>(7,HIGH);</a:t>
            </a:r>
            <a:endParaRPr lang="en-US" dirty="0" smtClean="0"/>
          </a:p>
          <a:p>
            <a:r>
              <a:rPr lang="en-US" dirty="0" smtClean="0"/>
              <a:t> delay(1000);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151063" y="664610"/>
            <a:ext cx="8136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IN" sz="3200" dirty="0"/>
              <a:t>Self Assessment Questions</a:t>
            </a:r>
            <a:r>
              <a:rPr lang="en" sz="3000" dirty="0"/>
              <a:t> </a:t>
            </a:r>
            <a:endParaRPr sz="30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9753600" y="6506212"/>
            <a:ext cx="533400" cy="23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2028300" y="1131962"/>
            <a:ext cx="8258700" cy="52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/>
              <a:t>What is a thermistor? </a:t>
            </a:r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/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r>
              <a:rPr lang="en-US" sz="2400" dirty="0"/>
              <a:t>How can we convert the analog reading from the thermistor into temperature values?</a:t>
            </a:r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/>
            </a:pPr>
            <a:endParaRPr lang="en-US" sz="2400" dirty="0"/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 startAt="3"/>
            </a:pPr>
            <a:r>
              <a:rPr lang="en-US" sz="2400" dirty="0"/>
              <a:t>What is the purpose of the resistor connected in the circuit with the thermistor?</a:t>
            </a:r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 startAt="3"/>
            </a:pPr>
            <a:endParaRPr lang="en-US" sz="2400" dirty="0"/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 startAt="3"/>
            </a:pPr>
            <a:r>
              <a:rPr lang="en-US" sz="2400" dirty="0"/>
              <a:t>What are some applications of temperature measurement using a thermistor and Arduino UNO?</a:t>
            </a:r>
          </a:p>
          <a:p>
            <a:pPr marL="88900" algn="just">
              <a:lnSpc>
                <a:spcPct val="115000"/>
              </a:lnSpc>
              <a:buSzPts val="2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6100" indent="-457200" algn="just">
              <a:lnSpc>
                <a:spcPct val="115000"/>
              </a:lnSpc>
              <a:buSzPts val="2200"/>
              <a:buFont typeface="+mj-lt"/>
              <a:buAutoNum type="arabicPeriod" startAt="3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68300" algn="just">
              <a:lnSpc>
                <a:spcPct val="115000"/>
              </a:lnSpc>
              <a:buSzPts val="2200"/>
              <a:buChar char="●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68300" algn="just">
              <a:lnSpc>
                <a:spcPct val="115000"/>
              </a:lnSpc>
              <a:buSzPts val="2200"/>
              <a:buChar char="●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F6298E9-95C2-F700-B6E1-48D785A35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7" y="0"/>
            <a:ext cx="1445727" cy="5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909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 rot="10800000" flipV="1">
            <a:off x="1584960" y="2245361"/>
            <a:ext cx="9022080" cy="389128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b="1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Team – Fundamentals of IoT &amp; Sensors</a:t>
            </a: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76D19AD-C10A-BDB1-1E38-47F213D4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10" y="3285808"/>
            <a:ext cx="3657980" cy="128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70919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805</Words>
  <Application>Microsoft Office PowerPoint</Application>
  <PresentationFormat>Custom</PresentationFormat>
  <Paragraphs>207</Paragraphs>
  <Slides>17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Experiment 4 :  Thermistor Interface with Arduino </vt:lpstr>
      <vt:lpstr>Thermistor</vt:lpstr>
      <vt:lpstr>POSITIVE TEMPERATURE COEFFICIENT (PTC)THERMISTOR</vt:lpstr>
      <vt:lpstr>NEGATIVE TEMPERATURE COEFFICIENT (NTC)THERMISTOR</vt:lpstr>
      <vt:lpstr>Thermistor</vt:lpstr>
      <vt:lpstr>Slide 6</vt:lpstr>
      <vt:lpstr>Aim</vt:lpstr>
      <vt:lpstr>Circuit Connections: Objective 4(a)</vt:lpstr>
      <vt:lpstr>Value Convertions</vt:lpstr>
      <vt:lpstr>Slide 10</vt:lpstr>
      <vt:lpstr>Program: Objective 4(a)</vt:lpstr>
      <vt:lpstr>Circuit Connections: Objective 4(b)</vt:lpstr>
      <vt:lpstr>Objective 2 </vt:lpstr>
      <vt:lpstr>Circuit Connections: Objective 4(c)</vt:lpstr>
      <vt:lpstr>Slide 15</vt:lpstr>
      <vt:lpstr>Self Assessment Questions 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1 : LED Interface with Arduino</dc:title>
  <dc:creator>Windows User</dc:creator>
  <cp:lastModifiedBy>KLH</cp:lastModifiedBy>
  <cp:revision>92</cp:revision>
  <dcterms:created xsi:type="dcterms:W3CDTF">2023-08-28T01:04:44Z</dcterms:created>
  <dcterms:modified xsi:type="dcterms:W3CDTF">2024-08-26T06:14:17Z</dcterms:modified>
</cp:coreProperties>
</file>